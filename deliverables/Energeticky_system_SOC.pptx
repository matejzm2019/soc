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39795839ff46aa" /><Relationship Type="http://schemas.openxmlformats.org/officeDocument/2006/relationships/extended-properties" Target="/docProps/app.xml" Id="R8d4d41bab6db4da0" /><Relationship Type="http://schemas.openxmlformats.org/officeDocument/2006/relationships/officeDocument" Target="/ppt/presentation.xml" Id="R81c8c442704146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b79098be3b48a6"/>
  </p:sldMasterIdLst>
  <p:notesMasterIdLst>
    <p:notesMasterId xmlns:r="http://schemas.openxmlformats.org/officeDocument/2006/relationships" r:id="R462609ba7ee14243"/>
  </p:notesMasterIdLst>
  <p:sldIdLst>
    <p:sldId xmlns:r="http://schemas.openxmlformats.org/officeDocument/2006/relationships" id="256" r:id="R99d7fb0c89c94ebf"/>
    <p:sldId xmlns:r="http://schemas.openxmlformats.org/officeDocument/2006/relationships" id="257" r:id="Rf1e440cd5dc046bf"/>
    <p:sldId xmlns:r="http://schemas.openxmlformats.org/officeDocument/2006/relationships" id="258" r:id="R2efdf6dc095544f9"/>
    <p:sldId xmlns:r="http://schemas.openxmlformats.org/officeDocument/2006/relationships" id="259" r:id="Rc587fab702784938"/>
    <p:sldId xmlns:r="http://schemas.openxmlformats.org/officeDocument/2006/relationships" id="260" r:id="R343c6fbc4bac4126"/>
    <p:sldId xmlns:r="http://schemas.openxmlformats.org/officeDocument/2006/relationships" id="261" r:id="Rca8c394e078e4361"/>
    <p:sldId xmlns:r="http://schemas.openxmlformats.org/officeDocument/2006/relationships" id="262" r:id="Rc5e66eefdf674f1f"/>
    <p:sldId xmlns:r="http://schemas.openxmlformats.org/officeDocument/2006/relationships" id="263" r:id="R04603527972d4e60"/>
    <p:sldId xmlns:r="http://schemas.openxmlformats.org/officeDocument/2006/relationships" id="264" r:id="R7cf11a808e694285"/>
    <p:sldId xmlns:r="http://schemas.openxmlformats.org/officeDocument/2006/relationships" id="265" r:id="Rb5fffc59ca2f42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a426826e814184" /><Relationship Type="http://schemas.openxmlformats.org/officeDocument/2006/relationships/slideMaster" Target="/ppt/slideMasters/slideMaster1.xml" Id="Rd2b79098be3b48a6" /><Relationship Type="http://schemas.openxmlformats.org/officeDocument/2006/relationships/notesMaster" Target="/ppt/notesMasters/notesMaster1.xml" Id="R462609ba7ee14243" /><Relationship Type="http://schemas.openxmlformats.org/officeDocument/2006/relationships/presProps" Target="/ppt/presProps.xml" Id="R946b887720ff4aa1" /><Relationship Type="http://schemas.openxmlformats.org/officeDocument/2006/relationships/tableStyles" Target="/ppt/tableStyles.xml" Id="R3b4a0c9c34f24ea4" /><Relationship Type="http://schemas.openxmlformats.org/officeDocument/2006/relationships/slide" Target="/ppt/slides/slide1.xml" Id="R99d7fb0c89c94ebf" /><Relationship Type="http://schemas.openxmlformats.org/officeDocument/2006/relationships/slide" Target="/ppt/slides/slide2.xml" Id="Rf1e440cd5dc046bf" /><Relationship Type="http://schemas.openxmlformats.org/officeDocument/2006/relationships/slide" Target="/ppt/slides/slide3.xml" Id="R2efdf6dc095544f9" /><Relationship Type="http://schemas.openxmlformats.org/officeDocument/2006/relationships/slide" Target="/ppt/slides/slide4.xml" Id="Rc587fab702784938" /><Relationship Type="http://schemas.openxmlformats.org/officeDocument/2006/relationships/slide" Target="/ppt/slides/slide5.xml" Id="R343c6fbc4bac4126" /><Relationship Type="http://schemas.openxmlformats.org/officeDocument/2006/relationships/slide" Target="/ppt/slides/slide6.xml" Id="Rca8c394e078e4361" /><Relationship Type="http://schemas.openxmlformats.org/officeDocument/2006/relationships/slide" Target="/ppt/slides/slide7.xml" Id="Rc5e66eefdf674f1f" /><Relationship Type="http://schemas.openxmlformats.org/officeDocument/2006/relationships/slide" Target="/ppt/slides/slide8.xml" Id="R04603527972d4e60" /><Relationship Type="http://schemas.openxmlformats.org/officeDocument/2006/relationships/slide" Target="/ppt/slides/slide9.xml" Id="R7cf11a808e694285" /><Relationship Type="http://schemas.openxmlformats.org/officeDocument/2006/relationships/slide" Target="/ppt/slides/slide10.xml" Id="Rb5fffc59ca2f42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3e1d83cee641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dfcaea60564f1e" /><Relationship Type="http://schemas.openxmlformats.org/officeDocument/2006/relationships/notesMaster" Target="/ppt/notesMasters/notesMaster1.xml" Id="R4b94a2e492314f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106b4421e74c44" /><Relationship Type="http://schemas.openxmlformats.org/officeDocument/2006/relationships/notesMaster" Target="/ppt/notesMasters/notesMaster1.xml" Id="Rb11175c018454b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f34fee157c40d8" /><Relationship Type="http://schemas.openxmlformats.org/officeDocument/2006/relationships/notesMaster" Target="/ppt/notesMasters/notesMaster1.xml" Id="Ra665c8b96ccb47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695a13f4f24825" /><Relationship Type="http://schemas.openxmlformats.org/officeDocument/2006/relationships/notesMaster" Target="/ppt/notesMasters/notesMaster1.xml" Id="R563a2515c15944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80242016044700" /><Relationship Type="http://schemas.openxmlformats.org/officeDocument/2006/relationships/notesMaster" Target="/ppt/notesMasters/notesMaster1.xml" Id="Rc78aa8e96c8048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3b397b92164dc3" /><Relationship Type="http://schemas.openxmlformats.org/officeDocument/2006/relationships/notesMaster" Target="/ppt/notesMasters/notesMaster1.xml" Id="Rb8b81976f2844f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96df5362cd4345" /><Relationship Type="http://schemas.openxmlformats.org/officeDocument/2006/relationships/notesMaster" Target="/ppt/notesMasters/notesMaster1.xml" Id="R1e5887241e954f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fcaba3eb8942dc" /><Relationship Type="http://schemas.openxmlformats.org/officeDocument/2006/relationships/notesMaster" Target="/ppt/notesMasters/notesMaster1.xml" Id="Rf477ed6bbc9b45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da8318fd5c44e9" /><Relationship Type="http://schemas.openxmlformats.org/officeDocument/2006/relationships/notesMaster" Target="/ppt/notesMasters/notesMaster1.xml" Id="Rdc84810ace1a4d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fe1afcdb4149fa" /><Relationship Type="http://schemas.openxmlformats.org/officeDocument/2006/relationships/notesMaster" Target="/ppt/notesMasters/notesMaster1.xml" Id="Re7bb59482aee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Pracovný názov projektu a hlavná bezpečnostná hranica. Projekt používa iba lokálnu sieť a nízke jednosmerné napätie.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Rozsah vychádza z implementovaného prototypu v repozitári. Predikcia používa klasický sezónny časový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Zdroj: docs/ARCHITEKTURA.md a firmware/esp32-s3. Router slúži iba na lokálnu komunikáciu.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MODE je explicitný prepínač v nastaveniach aplikácie. Backend odmietne demo scenár, zrýchlenie aj ručný krok, keď je režim vypnutý.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Ilustrácia vytvorená pre tento projekt. Zobrazuje zamýšľanú zostavu, nie fotografiu hotového prototypu.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Príklad: 0,25 / 0,50 = 50 %. Pri nastavenej elektrárni 6 kWp dashboard použije približne 3 kW. Ide o didaktické škálovanie.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Snímky pochádzajú z funkčnej lokálnej aplikácie v tomto repozitári. Responzívny web sa otvára cez LAN adresu notebooku.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Použiť chránenú 3,7 V LiPo batériu so zhodnou polaritou JST. PowerBoost 1000C má prepínanie USB/batéria a stabilný 5 V výstup. Router musí pri skúške odpojenia powerbanky zostať napájaný.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Podrobný zoznam je v docs/KOMPONENTY.md. Pred nákupom treba overiť konektor dosky, parametre panela a vstup cestovného routera.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Simulátor zostáva záložný režim, ak školská Wi-Fi izoluje zariadenia alebo hardvér zlyhá.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6b73bef8d44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11116eeb114924" /><Relationship Type="http://schemas.openxmlformats.org/officeDocument/2006/relationships/slideLayout" Target="/ppt/slideLayouts/slideLayout1.xml" Id="R9dc07c852b07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c07c852b07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8721064e740ad" /><Relationship Type="http://schemas.openxmlformats.org/officeDocument/2006/relationships/notesSlide" Target="/ppt/notesSlides/notesSlide1.xml" Id="Rf4cd01de1bdc40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0995a6c8f46b9" /><Relationship Type="http://schemas.openxmlformats.org/officeDocument/2006/relationships/notesSlide" Target="/ppt/notesSlides/notesSlide2.xml" Id="R5a80602f836944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f873631bb47bb" /><Relationship Type="http://schemas.openxmlformats.org/officeDocument/2006/relationships/notesSlide" Target="/ppt/notesSlides/notesSlide3.xml" Id="R6eb4b85714a14d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e0542d16b49c7" /><Relationship Type="http://schemas.openxmlformats.org/officeDocument/2006/relationships/notesSlide" Target="/ppt/notesSlides/notesSlide4.xml" Id="Rf4b4e53660df45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5a17ebfd0490b" /><Relationship Type="http://schemas.openxmlformats.org/officeDocument/2006/relationships/image" Target="/ppt/media/image.png" Id="R65542f2e0b764ee1" /><Relationship Type="http://schemas.openxmlformats.org/officeDocument/2006/relationships/notesSlide" Target="/ppt/notesSlides/notesSlide5.xml" Id="R7e80e210be5040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49b8958904748" /><Relationship Type="http://schemas.openxmlformats.org/officeDocument/2006/relationships/notesSlide" Target="/ppt/notesSlides/notesSlide6.xml" Id="R7a236fa38c494d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b3cc850c94cff" /><Relationship Type="http://schemas.openxmlformats.org/officeDocument/2006/relationships/image" Target="/ppt/media/image2.png" Id="R5a7c8914f2a74c05" /><Relationship Type="http://schemas.openxmlformats.org/officeDocument/2006/relationships/image" Target="/ppt/media/image3.png" Id="R9d25281d3fbd4913" /><Relationship Type="http://schemas.openxmlformats.org/officeDocument/2006/relationships/notesSlide" Target="/ppt/notesSlides/notesSlide7.xml" Id="R7f332630662743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34168d25c4789" /><Relationship Type="http://schemas.openxmlformats.org/officeDocument/2006/relationships/notesSlide" Target="/ppt/notesSlides/notesSlide8.xml" Id="R13d53a901d0941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02d072b6b468d" /><Relationship Type="http://schemas.openxmlformats.org/officeDocument/2006/relationships/notesSlide" Target="/ppt/notesSlides/notesSlide9.xml" Id="Re204e4a3bfd948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4965e7d6047a2" /><Relationship Type="http://schemas.openxmlformats.org/officeDocument/2006/relationships/notesSlide" Target="/ppt/notesSlides/notesSlide10.xml" Id="Rd9ee81a085aa48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8A8A6-E176-426A-A16E-0E785DAF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energia.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808CE-A2AF-448C-9FE2-BE006157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8572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Inteligentný lokálny</a:t>
            </a:r>
          </a:p>
          <a:p xmlns:a="http://schemas.openxmlformats.org/drawingml/2006/main">
            <a:pPr>
              <a:defRPr sz="412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412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energetický systém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0F159-1D0D-42A8-A6CB-C216626C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Monitorovanie, predikcia a bezpečný model domácnosti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1F1E2-B45B-453F-B3A8-9343DEF5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D3227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20521-0427-44D3-80C0-A32F4F94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34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ESP32-S3 + panel 5–6 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6AD98-DFBE-445F-8208-F35D59CC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81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C2A1E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243F1-0737-4AF5-81AE-B48E0259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434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Bez použitia 230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F1989-9956-45BE-97FB-473CD82C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SOČ projekt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911EE-AC67-44DD-BA83-ACCD4C3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62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9847726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3345C-D26F-4ACB-B4D0-4DC25B35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Cieľ projektu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C86A7-EC26-4DBA-9C8A-46BBAF42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Jeden systém spája meranie, výpočty a zrozumiteľný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D1B21-0D90-4F31-8D64-2F98C6CE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A7904-85B3-49ED-AB08-32BD2630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81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MERANIE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617AD-DEC8-45BF-AE24-3A073C82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05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Výkon malého panela, osvetlenie a stav prepínačov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A8B62-6C84-4B1A-8A7F-A493B588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69E25-225B-4719-87DC-0BFFC4D2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47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MODEL DOMÁCNOSTI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FF40F-6E49-43A8-A56A-74E3AF4C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9718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Spotreba, virtuálna batéria, sieť a energetická bilancia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B871A-AEB0-4AA0-AA92-5039A8CE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B96DF-AF09-4F09-B739-A917B0BE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147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ANALYTIKA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4C884-2E88-46C9-A88E-19773E35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38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História, náklady a 24-hodinová predikcia bez 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C000E-8E3A-4045-A2E1-D26F0847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DB76B-9C5B-46C6-BF8C-3CCA0039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81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PREZENTÁCIA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87864-F048-4104-868E-E18FA3B1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Rovnaký dashboard na notebooku aj mobile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C4BD4-CE88-4965-93F0-B7AF52BA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energia.  |  SOČ  |  02</a:t>
            </a:r>
          </a:p>
        </p:txBody>
      </p:sp>
    </p:spTree>
    <p:extLst>
      <p:ext uri="{BB962C8B-B14F-4D97-AF65-F5344CB8AC3E}">
        <p14:creationId xmlns:p14="http://schemas.microsoft.com/office/powerpoint/2010/main" val="1839265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F75D2-B9C0-45F9-BFED-42C05044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Architektúra lokálnej siete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8680F-6F90-4F23-A9E4-1B77E9E3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Internet počas ukážky nie je potrebný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FAEE0-8B0C-4F3A-826A-12BC4E58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201C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4B8E8-BE91-481A-8794-2EB7B773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9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87EB6-2535-4C3C-92E0-94F10212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Panel a senzory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65C80-A6E9-4D3F-9B0F-6C4E481C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INA219, BH1750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E9EA6-8F86-48C1-AFD7-0972115A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3837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D3227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6145D-21DE-4059-BEE8-3DCA3032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409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84314-70AC-4741-AAC7-52DB50F0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57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ESP32-S3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7A713-1578-49B8-A366-6B4827D6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71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HTTP telemetria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E44A8-7CE4-4C83-964C-E43D510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201C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16E67-F921-4EBB-A426-0EFBFEFB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9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EBF7E-D50C-4EE1-A7FF-FAB19C23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57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Wi-Fi router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65F15-B83C-4858-BE66-397FD719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71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lokálna 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1CCC7-DAE1-4DE7-999A-D8502715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201C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A1530-083D-4BEE-8D54-1FB75FDC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09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D919F4-29F3-4406-A93F-13CFF0C7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57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FastAPI + SQLite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294A0-4D9A-47FE-A13A-4108362B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71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server na notebooku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5A819-08A8-40C3-BA6C-ABAB3CAF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195262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5201C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A6807-A027-4DE6-9A9F-D67269ED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09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16836-8138-49E5-9210-EA1D2B7F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57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PC a mobil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6EA51-C687-497E-A295-DB967CA8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71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responzívny web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F8CDB3-F7A4-499F-BD85-E5202A12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ESP32 odosiela JSON každú sekundu. Živé hodnoty sa v prehliadači obnovujú dvakrát za sekundu.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C8C25-51A9-449F-B355-200E9201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911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Kľúč zariadenia chráni vstup telemetrie v dôveryhodnej lokálnej sieti.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CC039-5BD7-4FFE-BDF4-DC1E6E6A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energia.  |  SOČ  |  03</a:t>
            </a:r>
          </a:p>
        </p:txBody>
      </p:sp>
    </p:spTree>
    <p:extLst>
      <p:ext uri="{BB962C8B-B14F-4D97-AF65-F5344CB8AC3E}">
        <p14:creationId xmlns:p14="http://schemas.microsoft.com/office/powerpoint/2010/main" val="10742552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0F4C4-39BC-49B4-9D42-011FB37B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DEMO MODE a monitorovací režim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7F747-7A64-4BBD-BBC3-C2D9B6A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Zdroj dát a prezentačné ovládanie sa nastavujú samostatne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D5A7F-D2D3-4215-B4C7-653CB3FC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5219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93025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54966-167D-4495-A3AA-85DF962F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62100"/>
            <a:ext cx="52197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51D1A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9B206-9AEE-4042-B918-ACE058C1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DEMO 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FD1B4-EFD6-42EE-803A-A8C94AB0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574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SOČ prezentácia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91D6C-7159-4024-83AC-0429C786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28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osem pripravených scenárov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päťminútové simulačné kroky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rýchlosť 1×, 5× alebo 20×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softvérový alebo ESP32 vstup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AE9BB-3FBB-435B-99BA-1A385FE3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09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EBCE3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8EBCE3"/>
                </a:solidFill>
                <a:latin typeface="Segoe UI"/>
                <a:ea typeface="Segoe UI"/>
                <a:cs typeface="Segoe UI"/>
              </a:rPr>
              <a:t>MONITOR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110C1-4136-4B07-8A08-37270932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574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Priebežné sledovanie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6C233-B88B-45BC-AD52-83665D02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4286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vzorka každú sekundu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scenáre a zrýchlenie sú vypnuté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simulátor alebo ESP32 vstup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6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rovnaká história a analytika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F136E-E120-42E7-B52A-86EE677D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energia.  |  SOČ  |  04</a:t>
            </a:r>
          </a:p>
        </p:txBody>
      </p:sp>
    </p:spTree>
    <p:extLst>
      <p:ext uri="{BB962C8B-B14F-4D97-AF65-F5344CB8AC3E}">
        <p14:creationId xmlns:p14="http://schemas.microsoft.com/office/powerpoint/2010/main" val="1170900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9589F-8B49-4334-B667-F462D2AE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Bezpečný fyzický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02DD9-364A-4BE6-9932-C846060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Stolový experiment používa iba USB a panel do približne 6 V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42f2e0b764ee1"/>
          <a:srcRect xmlns:a="http://schemas.openxmlformats.org/drawingml/2006/main" l="0" t="12227" r="0" b="122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381125"/>
            <a:ext cx="11201400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06331-C6FD-4D10-897F-81DE4028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7429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D1513">
              <a:alpha val="80000"/>
            </a:srgbClr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18698-DB6F-4F23-AB76-DA3AAF9F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Panel, ESP32, nabíjateľná batéria a LED svetlá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605BE-8536-4ECF-BC49-A7C19030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energia.  |  SOČ  |  05</a:t>
            </a:r>
          </a:p>
        </p:txBody>
      </p:sp>
    </p:spTree>
    <p:extLst>
      <p:ext uri="{BB962C8B-B14F-4D97-AF65-F5344CB8AC3E}">
        <p14:creationId xmlns:p14="http://schemas.microsoft.com/office/powerpoint/2010/main" val="19315678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19065-1BEF-4D5F-91A9-1425063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Meranie a škálovanie výkonu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38E16-AC67-47AD-88D0-1BFDBE09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Malý panel riadi správanie virtuálnej fotovoltaiky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E77F1-EFD2-450C-A677-0314F5A0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0,25 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BEAB5-C857-4969-8CB6-820DF55A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aktuálny výkon panela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0C3FC-2CD7-448F-B0CA-8046D92B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7A7D6-C17D-4E8C-8653-406F3896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669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0,50 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D776B-9EDE-456D-8B23-9B76A59B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33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kalibračné maximum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00FCF-DC8F-4ECE-905A-F58FD940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02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=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6EA22-8787-4D67-82D0-777B8A95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66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50 %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C6059-ADD2-4B0C-9155-C2090E73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výkonu virtuálnej FV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8EB86-81D7-4175-A7A6-807BA395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953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201C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8C12A8-3C14-40D0-AA73-EA2C4DF0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57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MERANÉ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737B1-FB0F-4273-AFC3-30C48C49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napätie, prúd a výkon panela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osvetlenie v luxoch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stav troch ovládacích vstupov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93601-7D0D-4D4D-82A4-BA3712F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4953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5201C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8031C-9A5A-4213-AF84-E693D65D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VYPOČÍTANÉ ALEBO SIMULOVANÉ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2C8FD-4EBF-4EEA-8949-809DF3C3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výkon domácej FV v kW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SOC batérie a tok zo siete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350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350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cena, úspora a predikcia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759A9-A7CE-401E-B5C3-C94712B3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Pomer je obmedzený na 120 %, aby krátka špička senzora nerozbila model.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A48C0-B213-4BF4-80C3-A4379F7A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energia.  |  SOČ  |  06</a:t>
            </a:r>
          </a:p>
        </p:txBody>
      </p:sp>
    </p:spTree>
    <p:extLst>
      <p:ext uri="{BB962C8B-B14F-4D97-AF65-F5344CB8AC3E}">
        <p14:creationId xmlns:p14="http://schemas.microsoft.com/office/powerpoint/2010/main" val="1910998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A541B-3B4A-4B3E-A266-E331536C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Dashboard na notebooku aj 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99045-D5BA-4DC1-9E89-24C78BC3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Jedna webová aplikácia, jedna databáza a žiadna APK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c8914f2a74c05"/>
          <a:srcRect xmlns:a="http://schemas.openxmlformats.org/drawingml/2006/main" l="0" t="6279" r="0" b="62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09700"/>
            <a:ext cx="819150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5281d3fbd4913"/>
          <a:srcRect xmlns:a="http://schemas.openxmlformats.org/drawingml/2006/main" l="0" t="8867" r="0" b="8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5900" y="1409700"/>
            <a:ext cx="2514600" cy="447675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DEF2A-E108-422B-AE7A-07F49F7F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energia.  |  SOČ  |  07</a:t>
            </a:r>
          </a:p>
        </p:txBody>
      </p:sp>
    </p:spTree>
    <p:extLst>
      <p:ext uri="{BB962C8B-B14F-4D97-AF65-F5344CB8AC3E}">
        <p14:creationId xmlns:p14="http://schemas.microsoft.com/office/powerpoint/2010/main" val="783120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6DED65-3608-4BF9-B833-27955CD4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Napájanie bez 230 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B980C-D904-48D8-8B8A-385ADB90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Celá ukážka môže fungovať z batérie notebooku a USB powerbanky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C795F-4BE8-4B82-8B3C-8F6415D2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342BE-A449-4EEE-BFD0-75BE845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0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vlastná batéria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A47DB-3E6E-42E2-855C-2E9BD43E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FastAPI, SQLite a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8F860-662E-4EAA-81A4-70E9BB37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Powerbanka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9137A-BAF7-4A55-9E82-83A064AB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5 V do PowerBoost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A0E52-A258-4E33-A29B-957BC0D8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nabíja chránenú LiPo batériu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8E7C7-3CAF-47AB-9F1D-8C16E02A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LiPo + PowerBoost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71E79-B547-4BAE-94AE-661EDCE6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765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5 V výstup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3F198-3F3D-4A75-8DF7-814DA4ED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ESP32, senzory a domové 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4BAE5-A8F0-4A0F-90AC-E3E93023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USB LED lampa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DBC72-0037-459F-B23C-AAD4766B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62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5 V z powerbanky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8CEA9-D3AF-486E-BD22-D716E1E4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osvetľuje malý panel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10217-8800-4A6A-B90D-13AB8239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Solárny panel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5AD68-A458-45CA-9BA8-6B0EE4F6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481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5–6 V do rezistora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17947-889B-4C79-A5B4-DFD11C02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samostatný meraný vstup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3961E-5B53-42FA-81E2-CE69320B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Wi-Fi router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F74C75-00BD-41B1-8554-9123794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33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vlastné USB napájanie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AABD39-8D03-4EFA-8E7E-BED246BC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lokálna sieť bez internetu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0D8BE-91B1-433A-93C3-9CB395E6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744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1251E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E6252-C043-461B-977A-728581F9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D77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F2D77A"/>
                </a:solidFill>
                <a:latin typeface="Segoe UI"/>
                <a:ea typeface="Segoe UI"/>
                <a:cs typeface="Segoe UI"/>
              </a:rPr>
              <a:t>Panel je meraný zdroj. Batéria modelu sa nabíja z powerbanky a napája LED.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B3DA37-62FA-40EE-A153-1872AB1D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energia.  |  SOČ  |  08</a:t>
            </a:r>
          </a:p>
        </p:txBody>
      </p:sp>
    </p:spTree>
    <p:extLst>
      <p:ext uri="{BB962C8B-B14F-4D97-AF65-F5344CB8AC3E}">
        <p14:creationId xmlns:p14="http://schemas.microsoft.com/office/powerpoint/2010/main" val="6771609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DAA5A-360D-4608-8703-C3210859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Komponenty pre prvú funkčnú verziu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368E3-3303-40E6-92EA-FC7225D9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Zostava nevyžaduje OLED ani teplotný senzor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108585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238250"/>
                <a:gridCol w="4857750"/>
              </a:tblGrid>
              <a:tr h="4524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8F0BD"/>
                          </a:solidFill>
                          <a:latin typeface="Segoe UI"/>
                          <a:ea typeface="Segoe UI"/>
                          <a:cs typeface="Segoe UI"/>
                        </a:rPr>
                        <a:t>Komponent</a:t>
                      </a:r>
                    </a:p>
                  </a:txBody>
                  <a:tcPr marL="114300" marR="114300" marT="76200" marB="76200">
                    <a:solidFill>
                      <a:srgbClr val="1D3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8F0BD"/>
                          </a:solidFill>
                          <a:latin typeface="Segoe UI"/>
                          <a:ea typeface="Segoe UI"/>
                          <a:cs typeface="Segoe UI"/>
                        </a:rPr>
                        <a:t>Počet</a:t>
                      </a:r>
                    </a:p>
                  </a:txBody>
                  <a:tcPr marL="114300" marR="114300" marT="76200" marB="76200">
                    <a:solidFill>
                      <a:srgbClr val="1D32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A8F0BD"/>
                          </a:solidFill>
                          <a:latin typeface="Segoe UI"/>
                          <a:ea typeface="Segoe UI"/>
                          <a:cs typeface="Segoe UI"/>
                        </a:rPr>
                        <a:t>Úloha</a:t>
                      </a:r>
                    </a:p>
                  </a:txBody>
                  <a:tcPr marL="114300" marR="114300" marT="76200" marB="76200">
                    <a:solidFill>
                      <a:srgbClr val="1D3227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ESP32-S3 DevKit + USB kábel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Wi-Fi a zber dát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Panel 5–6 V / 0,5–1 W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reálna výroba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INA219 + BH1750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1 + 1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výkon a osvetlenie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47 Ω / 2 W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záťaž panela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PowerBoost 1000C + chránená LiPo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1 + 1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nabíjanie a 5 V výstup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Prepínače, LED, 220 Ω rezistory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3 + 3 + 3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svetlá a ovládanie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Breadboard a Dupont vodiče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1 sada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zapojenie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Powerbanka 10 000 mAh + USB lampa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1 + 1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USB napájanie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Router, notebook, materiál domu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po 1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F5F7F5"/>
                          </a:solidFill>
                          <a:latin typeface="Segoe UI"/>
                          <a:ea typeface="Segoe UI"/>
                          <a:cs typeface="Segoe UI"/>
                        </a:rPr>
                        <a:t>sieť a prezentácia</a:t>
                      </a:r>
                    </a:p>
                  </a:txBody>
                  <a:tcPr marL="114300" marR="114300" marT="66675" marB="66675">
                    <a:solidFill>
                      <a:srgbClr val="15201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BFAC3-CEE4-4A55-8D6A-4D830FDB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energia.  |  SOČ  |  09</a:t>
            </a:r>
          </a:p>
        </p:txBody>
      </p:sp>
    </p:spTree>
    <p:extLst>
      <p:ext uri="{BB962C8B-B14F-4D97-AF65-F5344CB8AC3E}">
        <p14:creationId xmlns:p14="http://schemas.microsoft.com/office/powerpoint/2010/main" val="1935659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5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17588-E3E3-49A5-BCBB-CD0BEEBB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Priebeh ukážky na SOČ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11ED9-6A15-45B8-9B85-0B708697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Každý krok ukáže viditeľnú príčinu a výsledok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B7859-D184-4B25-A934-1682DD4D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3644D-60F0-4C98-95C2-AAAA52B4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763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Zakrytie panela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3A059-E37F-45AD-81A3-D1A0FA76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573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pokles reálneho výkonu a virtuálnej FV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25EEF-21BC-4AFB-922D-6DA551AB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70A08-789A-464A-A368-9EA9F5A2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763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USB lampa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8761B-753A-410F-A342-7C950EC5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573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rast výkonu a zmena toku do siete alebo batérie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C519B-149F-425A-B36A-BBA63242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AAFDC-6261-49C1-B773-5970BE7C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289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Prepínače domu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8144F-3ABE-48BA-8613-8D11F33F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99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vyššia spotreba a rozsvietené 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9D59A-C97C-421E-A402-8DDCC663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2892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11D91-5663-411A-B446-FB874FC3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2892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Tlačidlo výpadku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C1A30-727D-44E3-8D87-DB72CD63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099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nulový tok siete a reakcia batérie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37D7F-E931-4C2E-BE35-D60D47F0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CAEA0-0A74-4B56-A966-7504960C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814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Odpojenie powerbanky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6B473-C033-44CD-ADAD-3580B70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624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ESP32 a LED ďalej fungujú z batérie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DD1D9-9105-443B-AECF-73F8784C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814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20D01B-1B42-4EE6-B484-E7B46AB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814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5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F5F7F5"/>
                </a:solidFill>
                <a:latin typeface="Segoe UI"/>
                <a:ea typeface="Segoe UI"/>
                <a:cs typeface="Segoe UI"/>
              </a:rPr>
              <a:t>Mobil a demo režim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DEAF7-00DD-4BAD-AF08-52F3A1E6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624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rovnaké dáta, scenáre a história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F95427-7EC0-4814-8E6F-5A3BD217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38800"/>
            <a:ext cx="883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3227"/>
          </a:solidFill>
          <a:ln xmlns:a="http://schemas.openxmlformats.org/drawingml/2006/main" w="9525">
            <a:solidFill>
              <a:srgbClr val="31403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60C687-0A6B-4C49-87DB-C0A45656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62625"/>
            <a:ext cx="8343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8F0BD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A8F0BD"/>
                </a:solidFill>
                <a:latin typeface="Segoe UI"/>
                <a:ea typeface="Segoe UI"/>
                <a:cs typeface="Segoe UI"/>
              </a:rPr>
              <a:t>Reálne meranie je jasne oddelené od prepočtu a simulácie.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F99CDA-3546-4B6F-BA9F-4B9ACCC3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EAEA6"/>
                </a:solidFill>
                <a:latin typeface="Segoe UI"/>
                <a:ea typeface="Segoe UI"/>
                <a:cs typeface="Segoe UI"/>
              </a:defRPr>
            </a:pPr>
            <a:r>
              <a:rPr sz="825" b="0">
                <a:solidFill>
                  <a:srgbClr val="9EAEA6"/>
                </a:solidFill>
                <a:latin typeface="Segoe UI"/>
                <a:ea typeface="Segoe UI"/>
                <a:cs typeface="Segoe UI"/>
              </a:rPr>
              <a:t>energia.  |  SOČ  |  10</a:t>
            </a:r>
          </a:p>
        </p:txBody>
      </p:sp>
    </p:spTree>
    <p:extLst>
      <p:ext uri="{BB962C8B-B14F-4D97-AF65-F5344CB8AC3E}">
        <p14:creationId xmlns:p14="http://schemas.microsoft.com/office/powerpoint/2010/main" val="1684356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2026-10-01T21:46:42.7430000Z</dcterms:created>
  <dcterms:modified xsi:type="dcterms:W3CDTF">2026-10-01T21:46:42.7430000Z</dcterms:modified>
</coreProperties>
</file>